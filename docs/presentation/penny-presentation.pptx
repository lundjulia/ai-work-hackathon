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 busy family, money is another job after work. Receipts, bank accounts and bills are scattered, and it's hard to know what's left. That can mean stress at the end of the month. We built Penny to help parents feel in control, without having to study personal finance.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S&amp;P Global survey, only 33 percent of adults worldwide met the financial-literacy threshold. That's a global finding from 2014, not a Danish statistic. But it raises a useful question: how can AI help people understand everyday money decisions?</a:t>
            </a:r>
          </a:p>
          <a:p>
            <a:r>
              <a:t>Source: https://gflec.org/wp-content/uploads/2015/11/3313-Finlit_Report_FINAL-5.11.16.pdf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Penny is a friendly AI money coach. You set your family's budget, safety buffer and savings goal, then talk to her in your own words. Claude explains the numbers, and calculated cards let you check the answer. You confirm changes. We start with groceries, with bank and loan insights as the broader direction. Our aim is to let Penny check the finances and contact you when something needs attention. Let us show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 Demo · 1:10–2:10</a:t>
            </a:r>
          </a:p>
          <a:p/>
          <a:p>
            <a:r>
              <a:t>Before presenting, sign in, connect the labelled synthetic bank fixtures and save the family plan. Use the browser where the voice and card were verified. Do not spend this minute on onboarding. Check microphone and audio beforehand. Keep the labelled text chat ready.</a:t>
            </a:r>
          </a:p>
          <a:p/>
          <a:p>
            <a:r>
              <a:t>- 0–8 seconds: switch to the app. Say, "This prototype uses synthetic bank data and simulated connections. No real money moves."</a:t>
            </a:r>
          </a:p>
          <a:p>
            <a:r>
              <a:t>- 8–28 seconds: tap Talk to Penny and ask, "How is our grocery budget doing?" Let the answer finish. Point to the matching budget card. Avoid quoting a fixed balance; the card uses current saved state.</a:t>
            </a:r>
          </a:p>
          <a:p>
            <a:r>
              <a:t>- 28–48 seconds: use Demo events → Budget update, then open the notification. Show that Penny uses the saved family budget and the event's context.</a:t>
            </a:r>
          </a:p>
          <a:p>
            <a:r>
              <a:t>- 48–60 seconds: say, "One question gives the family an understandable answer and the numbers behind it." Switch back to slide 5.</a:t>
            </a:r>
          </a:p>
          <a:p/>
          <a:p>
            <a:r>
              <a:t>If voice does not respond within roughly eight seconds, use the text field with the same question. If a provider request fails, show the existing card or actual-app screenshot and say that the live request failed. Do not present a screenshot as a fresh answer. End the demo at 60 seconds.</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outcome we want is less stress, clearer spending decisions and progress toward something the family cares about. Tonight we demonstrated conversation, saved plans and contextual budget cards. We haven't proved that families save money or feel less stressed yet. That's the next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Julia owns our next 30 days. We'll test Penny with five Danish families: set a grocery budget, try simulated receipts and explore a savings goal. We'll check what they understand, what helps, and what confuses them. Our target is at least three families saying they would use Penny regularly, backed by examples of useful features. We're looking for pilot families and a technical partner to move beyond simulated receipts.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A39"/>
        </a:solidFill>
        <a:effectLst/>
      </p:bgPr>
    </p:bg>
    <p:spTree>
      <p:nvGrpSpPr>
        <p:cNvPr id="1" name=""/>
        <p:cNvGrpSpPr/>
        <p:nvPr/>
      </p:nvGrpSpPr>
      <p:grpSpPr/>
      <p:sp>
        <p:nvSpPr>
          <p:cNvPr id="2" name="TextBox 1"/>
          <p:cNvSpPr txBox="1"/>
          <p:nvPr/>
        </p:nvSpPr>
        <p:spPr>
          <a:xfrm>
            <a:off x="594360" y="365760"/>
            <a:ext cx="10972800" cy="365760"/>
          </a:xfrm>
          <a:prstGeom prst="rect">
            <a:avLst/>
          </a:prstGeom>
          <a:noFill/>
        </p:spPr>
        <p:txBody>
          <a:bodyPr wrap="square">
            <a:spAutoFit/>
          </a:bodyPr>
          <a:lstStyle/>
          <a:p>
            <a:pPr>
              <a:defRPr sz="1300" b="1">
                <a:solidFill>
                  <a:srgbClr val="A8D5AF"/>
                </a:solidFill>
                <a:latin typeface="Aptos"/>
              </a:defRPr>
            </a:pPr>
            <a:r>
              <a:t>PENNY / THE PERSON</a:t>
            </a:r>
          </a:p>
        </p:txBody>
      </p:sp>
      <p:sp>
        <p:nvSpPr>
          <p:cNvPr id="3" name="TextBox 2"/>
          <p:cNvSpPr txBox="1"/>
          <p:nvPr/>
        </p:nvSpPr>
        <p:spPr>
          <a:xfrm>
            <a:off x="594360" y="1005840"/>
            <a:ext cx="7315200" cy="2011680"/>
          </a:xfrm>
          <a:prstGeom prst="rect">
            <a:avLst/>
          </a:prstGeom>
          <a:noFill/>
        </p:spPr>
        <p:txBody>
          <a:bodyPr wrap="square">
            <a:spAutoFit/>
          </a:bodyPr>
          <a:lstStyle/>
          <a:p>
            <a:pPr>
              <a:defRPr sz="6000" b="1">
                <a:solidFill>
                  <a:srgbClr val="F2F2EE"/>
                </a:solidFill>
                <a:latin typeface="Aptos"/>
              </a:defRPr>
            </a:pPr>
            <a:r>
              <a:t>Calmer</a:t>
            </a:r>
          </a:p>
          <a:p>
            <a:pPr>
              <a:defRPr sz="6000" b="1">
                <a:solidFill>
                  <a:srgbClr val="F2F2EE"/>
                </a:solidFill>
                <a:latin typeface="Aptos"/>
              </a:defRPr>
            </a:pPr>
            <a:r>
              <a:t>money days.</a:t>
            </a:r>
          </a:p>
        </p:txBody>
      </p:sp>
      <p:sp>
        <p:nvSpPr>
          <p:cNvPr id="4" name="TextBox 3"/>
          <p:cNvSpPr txBox="1"/>
          <p:nvPr/>
        </p:nvSpPr>
        <p:spPr>
          <a:xfrm>
            <a:off x="594360" y="3291840"/>
            <a:ext cx="7315200" cy="2194560"/>
          </a:xfrm>
          <a:prstGeom prst="rect">
            <a:avLst/>
          </a:prstGeom>
          <a:noFill/>
        </p:spPr>
        <p:txBody>
          <a:bodyPr wrap="square">
            <a:spAutoFit/>
          </a:bodyPr>
          <a:lstStyle/>
          <a:p>
            <a:pPr>
              <a:defRPr sz="2700" b="0">
                <a:solidFill>
                  <a:srgbClr val="F2F2EE"/>
                </a:solidFill>
                <a:latin typeface="Aptos"/>
              </a:defRPr>
            </a:pPr>
            <a:r>
              <a:t>Busy families lose track of spending.</a:t>
            </a:r>
          </a:p>
          <a:p>
            <a:pPr>
              <a:defRPr sz="2700" b="0">
                <a:solidFill>
                  <a:srgbClr val="F2F2EE"/>
                </a:solidFill>
                <a:latin typeface="Aptos"/>
              </a:defRPr>
            </a:pPr>
            <a:r>
              <a:t>Money becomes another source of stress.</a:t>
            </a:r>
          </a:p>
        </p:txBody>
      </p:sp>
      <p:pic>
        <p:nvPicPr>
          <p:cNvPr id="5" name="Picture 4" descr="penny.png"/>
          <p:cNvPicPr>
            <a:picLocks noChangeAspect="1"/>
          </p:cNvPicPr>
          <p:nvPr/>
        </p:nvPicPr>
        <p:blipFill>
          <a:blip r:embed="rId2"/>
          <a:stretch>
            <a:fillRect/>
          </a:stretch>
        </p:blipFill>
        <p:spPr>
          <a:xfrm>
            <a:off x="8321040" y="1645920"/>
            <a:ext cx="3200400" cy="3751580"/>
          </a:xfrm>
          <a:prstGeom prst="rect">
            <a:avLst/>
          </a:prstGeom>
        </p:spPr>
      </p:pic>
      <p:sp>
        <p:nvSpPr>
          <p:cNvPr id="6" name="TextBox 5"/>
          <p:cNvSpPr txBox="1"/>
          <p:nvPr/>
        </p:nvSpPr>
        <p:spPr>
          <a:xfrm>
            <a:off x="594360" y="6199632"/>
            <a:ext cx="10698480" cy="457200"/>
          </a:xfrm>
          <a:prstGeom prst="rect">
            <a:avLst/>
          </a:prstGeom>
          <a:noFill/>
        </p:spPr>
        <p:txBody>
          <a:bodyPr wrap="square">
            <a:spAutoFit/>
          </a:bodyPr>
          <a:lstStyle/>
          <a:p>
            <a:pPr>
              <a:defRPr sz="1200" b="0">
                <a:solidFill>
                  <a:srgbClr val="A8D5AF"/>
                </a:solidFill>
                <a:latin typeface="Aptos"/>
              </a:defRPr>
            </a:pPr>
            <a:r>
              <a:t>For parents who want control without studying personal finance.</a:t>
            </a:r>
          </a:p>
        </p:txBody>
      </p:sp>
      <p:sp>
        <p:nvSpPr>
          <p:cNvPr id="7" name="TextBox 6"/>
          <p:cNvSpPr txBox="1"/>
          <p:nvPr/>
        </p:nvSpPr>
        <p:spPr>
          <a:xfrm>
            <a:off x="11064240" y="6199632"/>
            <a:ext cx="594360" cy="365760"/>
          </a:xfrm>
          <a:prstGeom prst="rect">
            <a:avLst/>
          </a:prstGeom>
          <a:noFill/>
        </p:spPr>
        <p:txBody>
          <a:bodyPr wrap="square">
            <a:spAutoFit/>
          </a:bodyPr>
          <a:lstStyle/>
          <a:p>
            <a:pPr>
              <a:defRPr sz="1200" b="0">
                <a:solidFill>
                  <a:srgbClr val="A8D5AF"/>
                </a:solidFill>
                <a:latin typeface="Aptos"/>
              </a:defRPr>
            </a:pPr>
            <a:r>
              <a:t>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2EE"/>
        </a:solidFill>
        <a:effectLst/>
      </p:bgPr>
    </p:bg>
    <p:spTree>
      <p:nvGrpSpPr>
        <p:cNvPr id="1" name=""/>
        <p:cNvGrpSpPr/>
        <p:nvPr/>
      </p:nvGrpSpPr>
      <p:grpSpPr/>
      <p:sp>
        <p:nvSpPr>
          <p:cNvPr id="2" name="TextBox 1"/>
          <p:cNvSpPr txBox="1"/>
          <p:nvPr/>
        </p:nvSpPr>
        <p:spPr>
          <a:xfrm>
            <a:off x="594360" y="365760"/>
            <a:ext cx="10972800" cy="365760"/>
          </a:xfrm>
          <a:prstGeom prst="rect">
            <a:avLst/>
          </a:prstGeom>
          <a:noFill/>
        </p:spPr>
        <p:txBody>
          <a:bodyPr wrap="square">
            <a:spAutoFit/>
          </a:bodyPr>
          <a:lstStyle/>
          <a:p>
            <a:pPr>
              <a:defRPr sz="1300" b="1">
                <a:solidFill>
                  <a:srgbClr val="1F4A39"/>
                </a:solidFill>
                <a:latin typeface="Aptos"/>
              </a:defRPr>
            </a:pPr>
            <a:r>
              <a:t>PENNY / WHY IT MATTERS</a:t>
            </a:r>
          </a:p>
        </p:txBody>
      </p:sp>
      <p:sp>
        <p:nvSpPr>
          <p:cNvPr id="3" name="TextBox 2"/>
          <p:cNvSpPr txBox="1"/>
          <p:nvPr/>
        </p:nvSpPr>
        <p:spPr>
          <a:xfrm>
            <a:off x="594360" y="1143000"/>
            <a:ext cx="4572000" cy="1920240"/>
          </a:xfrm>
          <a:prstGeom prst="rect">
            <a:avLst/>
          </a:prstGeom>
          <a:noFill/>
        </p:spPr>
        <p:txBody>
          <a:bodyPr wrap="square">
            <a:spAutoFit/>
          </a:bodyPr>
          <a:lstStyle/>
          <a:p>
            <a:pPr>
              <a:defRPr sz="13200" b="1">
                <a:solidFill>
                  <a:srgbClr val="1F4A39"/>
                </a:solidFill>
                <a:latin typeface="Aptos"/>
              </a:defRPr>
            </a:pPr>
            <a:r>
              <a:t>33%</a:t>
            </a:r>
          </a:p>
        </p:txBody>
      </p:sp>
      <p:sp>
        <p:nvSpPr>
          <p:cNvPr id="4" name="TextBox 3"/>
          <p:cNvSpPr txBox="1"/>
          <p:nvPr/>
        </p:nvSpPr>
        <p:spPr>
          <a:xfrm>
            <a:off x="640080" y="3200400"/>
            <a:ext cx="4572000" cy="1554480"/>
          </a:xfrm>
          <a:prstGeom prst="rect">
            <a:avLst/>
          </a:prstGeom>
          <a:noFill/>
        </p:spPr>
        <p:txBody>
          <a:bodyPr wrap="square">
            <a:spAutoFit/>
          </a:bodyPr>
          <a:lstStyle/>
          <a:p>
            <a:pPr>
              <a:defRPr sz="2700" b="0">
                <a:solidFill>
                  <a:srgbClr val="14231C"/>
                </a:solidFill>
                <a:latin typeface="Aptos"/>
              </a:defRPr>
            </a:pPr>
            <a:r>
              <a:t>of adults worldwide met the survey's financial-literacy threshold.</a:t>
            </a:r>
          </a:p>
        </p:txBody>
      </p:sp>
      <p:sp>
        <p:nvSpPr>
          <p:cNvPr id="5" name="TextBox 4"/>
          <p:cNvSpPr txBox="1"/>
          <p:nvPr/>
        </p:nvSpPr>
        <p:spPr>
          <a:xfrm>
            <a:off x="5943600" y="1097280"/>
            <a:ext cx="5486400" cy="1371600"/>
          </a:xfrm>
          <a:prstGeom prst="rect">
            <a:avLst/>
          </a:prstGeom>
          <a:noFill/>
        </p:spPr>
        <p:txBody>
          <a:bodyPr wrap="square">
            <a:spAutoFit/>
          </a:bodyPr>
          <a:lstStyle/>
          <a:p>
            <a:pPr>
              <a:defRPr sz="4000" b="1">
                <a:solidFill>
                  <a:srgbClr val="14231C"/>
                </a:solidFill>
                <a:latin typeface="Aptos"/>
              </a:defRPr>
            </a:pPr>
            <a:r>
              <a:t>Everyday money</a:t>
            </a:r>
          </a:p>
          <a:p>
            <a:pPr>
              <a:defRPr sz="4000" b="1">
                <a:solidFill>
                  <a:srgbClr val="14231C"/>
                </a:solidFill>
                <a:latin typeface="Aptos"/>
              </a:defRPr>
            </a:pPr>
            <a:r>
              <a:t>should make sense.</a:t>
            </a:r>
          </a:p>
        </p:txBody>
      </p:sp>
      <p:sp>
        <p:nvSpPr>
          <p:cNvPr id="6" name="Oval 5"/>
          <p:cNvSpPr/>
          <p:nvPr/>
        </p:nvSpPr>
        <p:spPr>
          <a:xfrm>
            <a:off x="6035040"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345936"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656831"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967727"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278624"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589520"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900416"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11312"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522208"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833104" y="2834640"/>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035040"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345936"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56831"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967727"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278624"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589520"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900416"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211312"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522208"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833104" y="3081528"/>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035040"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45936"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56831"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6967727"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278624"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89520"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900416"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211312"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522208"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8833104" y="3328416"/>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035040" y="3575304"/>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345936" y="3575304"/>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656831" y="3575304"/>
            <a:ext cx="173736" cy="173736"/>
          </a:xfrm>
          <a:prstGeom prst="ellipse">
            <a:avLst/>
          </a:prstGeom>
          <a:solidFill>
            <a:srgbClr val="1F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967727" y="357530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278624" y="357530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589520" y="357530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900416" y="357530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211312" y="357530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522208" y="357530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833104" y="357530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035040"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345936"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656831"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967727"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7278624"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7589520"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7900416"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8211312"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8522208"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8833104" y="3822191"/>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035040"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6345936"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656831"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967727"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278624"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589520"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900416"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211312"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8522208"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8833104" y="4069080"/>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035040"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345936"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6656831"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967727"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278624"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589520"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900416"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8211312"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522208"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833104" y="4315968"/>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035040"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6345936"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6656831"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6967727"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7278624"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7589520"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900416"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8211312"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8522208"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8833104" y="4562856"/>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6035040"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6345936"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6656831"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6967727"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7278624"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7589520"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900416"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8211312"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8522208"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8833104" y="4809744"/>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6035040"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6345936"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6656831"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6967727"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7278624"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7589520"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7900416"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8211312"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8522208"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8833104" y="5056632"/>
            <a:ext cx="173736" cy="173736"/>
          </a:xfrm>
          <a:prstGeom prst="ellipse">
            <a:avLst/>
          </a:prstGeom>
          <a:solidFill>
            <a:srgbClr val="DADA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5943600" y="5486400"/>
            <a:ext cx="5486400" cy="457200"/>
          </a:xfrm>
          <a:prstGeom prst="rect">
            <a:avLst/>
          </a:prstGeom>
          <a:noFill/>
        </p:spPr>
        <p:txBody>
          <a:bodyPr wrap="square">
            <a:spAutoFit/>
          </a:bodyPr>
          <a:lstStyle/>
          <a:p>
            <a:pPr>
              <a:defRPr sz="1400" b="0">
                <a:solidFill>
                  <a:srgbClr val="6B746E"/>
                </a:solidFill>
                <a:latin typeface="Aptos"/>
              </a:defRPr>
            </a:pPr>
            <a:r>
              <a:t>2014 survey. Global context, not a Danish statistic.</a:t>
            </a:r>
          </a:p>
        </p:txBody>
      </p:sp>
      <p:sp>
        <p:nvSpPr>
          <p:cNvPr id="107" name="TextBox 106"/>
          <p:cNvSpPr txBox="1"/>
          <p:nvPr/>
        </p:nvSpPr>
        <p:spPr>
          <a:xfrm>
            <a:off x="594360" y="6199632"/>
            <a:ext cx="10698480" cy="457200"/>
          </a:xfrm>
          <a:prstGeom prst="rect">
            <a:avLst/>
          </a:prstGeom>
          <a:noFill/>
        </p:spPr>
        <p:txBody>
          <a:bodyPr wrap="square">
            <a:spAutoFit/>
          </a:bodyPr>
          <a:lstStyle/>
          <a:p>
            <a:pPr>
              <a:defRPr sz="1200" b="0">
                <a:solidFill>
                  <a:srgbClr val="6B746E"/>
                </a:solidFill>
                <a:latin typeface="Aptos"/>
              </a:defRPr>
            </a:pPr>
            <a:r>
              <a:t>Source: S&amp;P Global FinLit Survey, 2014 data / 2015 report. Over 150,000 adults in 140+ countries.</a:t>
            </a:r>
          </a:p>
        </p:txBody>
      </p:sp>
      <p:sp>
        <p:nvSpPr>
          <p:cNvPr id="108" name="TextBox 107"/>
          <p:cNvSpPr txBox="1"/>
          <p:nvPr/>
        </p:nvSpPr>
        <p:spPr>
          <a:xfrm>
            <a:off x="11064240" y="6199632"/>
            <a:ext cx="594360" cy="365760"/>
          </a:xfrm>
          <a:prstGeom prst="rect">
            <a:avLst/>
          </a:prstGeom>
          <a:noFill/>
        </p:spPr>
        <p:txBody>
          <a:bodyPr wrap="square">
            <a:spAutoFit/>
          </a:bodyPr>
          <a:lstStyle/>
          <a:p>
            <a:pPr>
              <a:defRPr sz="1200" b="0">
                <a:solidFill>
                  <a:srgbClr val="6B746E"/>
                </a:solidFill>
                <a:latin typeface="Aptos"/>
              </a:defRPr>
            </a:pPr>
            <a:r>
              <a:t>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2EE"/>
        </a:solidFill>
        <a:effectLst/>
      </p:bgPr>
    </p:bg>
    <p:spTree>
      <p:nvGrpSpPr>
        <p:cNvPr id="1" name=""/>
        <p:cNvGrpSpPr/>
        <p:nvPr/>
      </p:nvGrpSpPr>
      <p:grpSpPr/>
      <p:sp>
        <p:nvSpPr>
          <p:cNvPr id="2" name="TextBox 1"/>
          <p:cNvSpPr txBox="1"/>
          <p:nvPr/>
        </p:nvSpPr>
        <p:spPr>
          <a:xfrm>
            <a:off x="594360" y="365760"/>
            <a:ext cx="10972800" cy="365760"/>
          </a:xfrm>
          <a:prstGeom prst="rect">
            <a:avLst/>
          </a:prstGeom>
          <a:noFill/>
        </p:spPr>
        <p:txBody>
          <a:bodyPr wrap="square">
            <a:spAutoFit/>
          </a:bodyPr>
          <a:lstStyle/>
          <a:p>
            <a:pPr>
              <a:defRPr sz="1300" b="1">
                <a:solidFill>
                  <a:srgbClr val="1F4A39"/>
                </a:solidFill>
                <a:latin typeface="Aptos"/>
              </a:defRPr>
            </a:pPr>
            <a:r>
              <a:t>PENNY / THE PRODUCT</a:t>
            </a:r>
          </a:p>
        </p:txBody>
      </p:sp>
      <p:sp>
        <p:nvSpPr>
          <p:cNvPr id="3" name="TextBox 2"/>
          <p:cNvSpPr txBox="1"/>
          <p:nvPr/>
        </p:nvSpPr>
        <p:spPr>
          <a:xfrm>
            <a:off x="594360" y="960120"/>
            <a:ext cx="10972800" cy="1463040"/>
          </a:xfrm>
          <a:prstGeom prst="rect">
            <a:avLst/>
          </a:prstGeom>
          <a:noFill/>
        </p:spPr>
        <p:txBody>
          <a:bodyPr wrap="square">
            <a:spAutoFit/>
          </a:bodyPr>
          <a:lstStyle/>
          <a:p>
            <a:pPr>
              <a:defRPr sz="4400" b="1">
                <a:solidFill>
                  <a:srgbClr val="14231C"/>
                </a:solidFill>
                <a:latin typeface="Aptos"/>
              </a:defRPr>
            </a:pPr>
            <a:r>
              <a:t>Ask Penny.</a:t>
            </a:r>
          </a:p>
          <a:p>
            <a:pPr>
              <a:defRPr sz="4400" b="1">
                <a:solidFill>
                  <a:srgbClr val="14231C"/>
                </a:solidFill>
                <a:latin typeface="Aptos"/>
              </a:defRPr>
            </a:pPr>
            <a:r>
              <a:t>Understand your next step.</a:t>
            </a:r>
          </a:p>
        </p:txBody>
      </p:sp>
      <p:sp>
        <p:nvSpPr>
          <p:cNvPr id="4" name="TextBox 3"/>
          <p:cNvSpPr txBox="1"/>
          <p:nvPr/>
        </p:nvSpPr>
        <p:spPr>
          <a:xfrm>
            <a:off x="594360" y="2971800"/>
            <a:ext cx="5212080" cy="548640"/>
          </a:xfrm>
          <a:prstGeom prst="rect">
            <a:avLst/>
          </a:prstGeom>
          <a:noFill/>
        </p:spPr>
        <p:txBody>
          <a:bodyPr wrap="square">
            <a:spAutoFit/>
          </a:bodyPr>
          <a:lstStyle/>
          <a:p>
            <a:pPr>
              <a:defRPr sz="2500" b="1">
                <a:solidFill>
                  <a:srgbClr val="1F4A39"/>
                </a:solidFill>
                <a:latin typeface="Aptos"/>
              </a:defRPr>
            </a:pPr>
            <a:r>
              <a:t>Start with your family's plan.</a:t>
            </a:r>
          </a:p>
        </p:txBody>
      </p:sp>
      <p:sp>
        <p:nvSpPr>
          <p:cNvPr id="5" name="TextBox 4"/>
          <p:cNvSpPr txBox="1"/>
          <p:nvPr/>
        </p:nvSpPr>
        <p:spPr>
          <a:xfrm>
            <a:off x="594360" y="3703320"/>
            <a:ext cx="5212080" cy="1188720"/>
          </a:xfrm>
          <a:prstGeom prst="rect">
            <a:avLst/>
          </a:prstGeom>
          <a:noFill/>
        </p:spPr>
        <p:txBody>
          <a:bodyPr wrap="square">
            <a:spAutoFit/>
          </a:bodyPr>
          <a:lstStyle/>
          <a:p>
            <a:pPr>
              <a:defRPr sz="2300" b="0">
                <a:solidFill>
                  <a:srgbClr val="14231C"/>
                </a:solidFill>
                <a:latin typeface="Aptos"/>
              </a:defRPr>
            </a:pPr>
            <a:r>
              <a:t>Set a budget, a buffer and a savings goal.</a:t>
            </a:r>
          </a:p>
          <a:p>
            <a:pPr>
              <a:defRPr sz="2300" b="0">
                <a:solidFill>
                  <a:srgbClr val="14231C"/>
                </a:solidFill>
                <a:latin typeface="Aptos"/>
              </a:defRPr>
            </a:pPr>
            <a:r>
              <a:t>Ask about money in everyday language.</a:t>
            </a:r>
          </a:p>
        </p:txBody>
      </p:sp>
      <p:sp>
        <p:nvSpPr>
          <p:cNvPr id="6" name="TextBox 5"/>
          <p:cNvSpPr txBox="1"/>
          <p:nvPr/>
        </p:nvSpPr>
        <p:spPr>
          <a:xfrm>
            <a:off x="6309360" y="2971800"/>
            <a:ext cx="5212080" cy="548640"/>
          </a:xfrm>
          <a:prstGeom prst="rect">
            <a:avLst/>
          </a:prstGeom>
          <a:noFill/>
        </p:spPr>
        <p:txBody>
          <a:bodyPr wrap="square">
            <a:spAutoFit/>
          </a:bodyPr>
          <a:lstStyle/>
          <a:p>
            <a:pPr>
              <a:defRPr sz="2500" b="1">
                <a:solidFill>
                  <a:srgbClr val="1F4A39"/>
                </a:solidFill>
                <a:latin typeface="Aptos"/>
              </a:defRPr>
            </a:pPr>
            <a:r>
              <a:t>Get an answer you can check.</a:t>
            </a:r>
          </a:p>
        </p:txBody>
      </p:sp>
      <p:sp>
        <p:nvSpPr>
          <p:cNvPr id="7" name="TextBox 6"/>
          <p:cNvSpPr txBox="1"/>
          <p:nvPr/>
        </p:nvSpPr>
        <p:spPr>
          <a:xfrm>
            <a:off x="6309360" y="3703320"/>
            <a:ext cx="5212080" cy="1188720"/>
          </a:xfrm>
          <a:prstGeom prst="rect">
            <a:avLst/>
          </a:prstGeom>
          <a:noFill/>
        </p:spPr>
        <p:txBody>
          <a:bodyPr wrap="square">
            <a:spAutoFit/>
          </a:bodyPr>
          <a:lstStyle/>
          <a:p>
            <a:pPr>
              <a:defRPr sz="2300" b="0">
                <a:solidFill>
                  <a:srgbClr val="14231C"/>
                </a:solidFill>
                <a:latin typeface="Aptos"/>
              </a:defRPr>
            </a:pPr>
            <a:r>
              <a:t>Claude explains calculated budget and goal cards.</a:t>
            </a:r>
          </a:p>
          <a:p>
            <a:pPr>
              <a:defRPr sz="2300" b="0">
                <a:solidFill>
                  <a:srgbClr val="14231C"/>
                </a:solidFill>
                <a:latin typeface="Aptos"/>
              </a:defRPr>
            </a:pPr>
            <a:r>
              <a:t>You confirm changes.</a:t>
            </a:r>
          </a:p>
        </p:txBody>
      </p:sp>
      <p:sp>
        <p:nvSpPr>
          <p:cNvPr id="8" name="TextBox 7"/>
          <p:cNvSpPr txBox="1"/>
          <p:nvPr/>
        </p:nvSpPr>
        <p:spPr>
          <a:xfrm>
            <a:off x="594360" y="5303520"/>
            <a:ext cx="10972800" cy="548640"/>
          </a:xfrm>
          <a:prstGeom prst="rect">
            <a:avLst/>
          </a:prstGeom>
          <a:noFill/>
        </p:spPr>
        <p:txBody>
          <a:bodyPr wrap="square">
            <a:spAutoFit/>
          </a:bodyPr>
          <a:lstStyle/>
          <a:p>
            <a:pPr>
              <a:defRPr sz="1900" b="0">
                <a:solidFill>
                  <a:srgbClr val="6B746E"/>
                </a:solidFill>
                <a:latin typeface="Aptos"/>
              </a:defRPr>
            </a:pPr>
            <a:r>
              <a:t>Food spending first. Bank and loan insights extend the plan.</a:t>
            </a:r>
          </a:p>
        </p:txBody>
      </p:sp>
      <p:sp>
        <p:nvSpPr>
          <p:cNvPr id="9" name="TextBox 8"/>
          <p:cNvSpPr txBox="1"/>
          <p:nvPr/>
        </p:nvSpPr>
        <p:spPr>
          <a:xfrm>
            <a:off x="594360" y="6199632"/>
            <a:ext cx="10698480" cy="457200"/>
          </a:xfrm>
          <a:prstGeom prst="rect">
            <a:avLst/>
          </a:prstGeom>
          <a:noFill/>
        </p:spPr>
        <p:txBody>
          <a:bodyPr wrap="square">
            <a:spAutoFit/>
          </a:bodyPr>
          <a:lstStyle/>
          <a:p>
            <a:pPr>
              <a:defRPr sz="1200" b="0">
                <a:solidFill>
                  <a:srgbClr val="6B746E"/>
                </a:solidFill>
                <a:latin typeface="Aptos"/>
              </a:defRPr>
            </a:pPr>
            <a:r>
              <a:t>Our aim: checks and relevant alerts, with the family in control.</a:t>
            </a:r>
          </a:p>
        </p:txBody>
      </p:sp>
      <p:sp>
        <p:nvSpPr>
          <p:cNvPr id="10" name="TextBox 9"/>
          <p:cNvSpPr txBox="1"/>
          <p:nvPr/>
        </p:nvSpPr>
        <p:spPr>
          <a:xfrm>
            <a:off x="11064240" y="6199632"/>
            <a:ext cx="594360" cy="365760"/>
          </a:xfrm>
          <a:prstGeom prst="rect">
            <a:avLst/>
          </a:prstGeom>
          <a:noFill/>
        </p:spPr>
        <p:txBody>
          <a:bodyPr wrap="square">
            <a:spAutoFit/>
          </a:bodyPr>
          <a:lstStyle/>
          <a:p>
            <a:pPr>
              <a:defRPr sz="1200" b="0">
                <a:solidFill>
                  <a:srgbClr val="6B746E"/>
                </a:solidFill>
                <a:latin typeface="Aptos"/>
              </a:defRPr>
            </a:pPr>
            <a:r>
              <a:t>3/6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2EE"/>
        </a:solidFill>
        <a:effectLst/>
      </p:bgPr>
    </p:bg>
    <p:spTree>
      <p:nvGrpSpPr>
        <p:cNvPr id="1" name=""/>
        <p:cNvGrpSpPr/>
        <p:nvPr/>
      </p:nvGrpSpPr>
      <p:grpSpPr/>
      <p:sp>
        <p:nvSpPr>
          <p:cNvPr id="2" name="TextBox 1"/>
          <p:cNvSpPr txBox="1"/>
          <p:nvPr/>
        </p:nvSpPr>
        <p:spPr>
          <a:xfrm>
            <a:off x="594360" y="365760"/>
            <a:ext cx="10972800" cy="365760"/>
          </a:xfrm>
          <a:prstGeom prst="rect">
            <a:avLst/>
          </a:prstGeom>
          <a:noFill/>
        </p:spPr>
        <p:txBody>
          <a:bodyPr wrap="square">
            <a:spAutoFit/>
          </a:bodyPr>
          <a:lstStyle/>
          <a:p>
            <a:pPr>
              <a:defRPr sz="1300" b="1">
                <a:solidFill>
                  <a:srgbClr val="1F4A39"/>
                </a:solidFill>
                <a:latin typeface="Aptos"/>
              </a:defRPr>
            </a:pPr>
            <a:r>
              <a:t>PENNY / LIVE DEMO · 60 SECONDS</a:t>
            </a:r>
          </a:p>
        </p:txBody>
      </p:sp>
      <p:sp>
        <p:nvSpPr>
          <p:cNvPr id="3" name="TextBox 2"/>
          <p:cNvSpPr txBox="1"/>
          <p:nvPr/>
        </p:nvSpPr>
        <p:spPr>
          <a:xfrm>
            <a:off x="594360" y="1051560"/>
            <a:ext cx="7315200" cy="1645920"/>
          </a:xfrm>
          <a:prstGeom prst="rect">
            <a:avLst/>
          </a:prstGeom>
          <a:noFill/>
        </p:spPr>
        <p:txBody>
          <a:bodyPr wrap="square">
            <a:spAutoFit/>
          </a:bodyPr>
          <a:lstStyle/>
          <a:p>
            <a:pPr>
              <a:defRPr sz="4200" b="1">
                <a:solidFill>
                  <a:srgbClr val="14231C"/>
                </a:solidFill>
                <a:latin typeface="Aptos"/>
              </a:defRPr>
            </a:pPr>
            <a:r>
              <a:t>"How is our</a:t>
            </a:r>
          </a:p>
          <a:p>
            <a:pPr>
              <a:defRPr sz="4200" b="1">
                <a:solidFill>
                  <a:srgbClr val="14231C"/>
                </a:solidFill>
                <a:latin typeface="Aptos"/>
              </a:defRPr>
            </a:pPr>
            <a:r>
              <a:t>grocery budget doing?"</a:t>
            </a:r>
          </a:p>
        </p:txBody>
      </p:sp>
      <p:sp>
        <p:nvSpPr>
          <p:cNvPr id="4" name="TextBox 3"/>
          <p:cNvSpPr txBox="1"/>
          <p:nvPr/>
        </p:nvSpPr>
        <p:spPr>
          <a:xfrm>
            <a:off x="594360" y="3017520"/>
            <a:ext cx="6858000" cy="2286000"/>
          </a:xfrm>
          <a:prstGeom prst="rect">
            <a:avLst/>
          </a:prstGeom>
          <a:noFill/>
        </p:spPr>
        <p:txBody>
          <a:bodyPr wrap="square">
            <a:spAutoFit/>
          </a:bodyPr>
          <a:lstStyle/>
          <a:p>
            <a:pPr>
              <a:defRPr sz="2300" b="0">
                <a:solidFill>
                  <a:srgbClr val="14231C"/>
                </a:solidFill>
                <a:latin typeface="Aptos"/>
              </a:defRPr>
            </a:pPr>
            <a:r>
              <a:t>Ask Penny by voice.</a:t>
            </a:r>
          </a:p>
          <a:p>
            <a:pPr>
              <a:defRPr sz="2300" b="0">
                <a:solidFill>
                  <a:srgbClr val="14231C"/>
                </a:solidFill>
                <a:latin typeface="Aptos"/>
              </a:defRPr>
            </a:pPr>
            <a:r>
              <a:t>Hear the answer and see the matching budget card.</a:t>
            </a:r>
          </a:p>
          <a:p>
            <a:pPr>
              <a:defRPr sz="2300" b="0">
                <a:solidFill>
                  <a:srgbClr val="14231C"/>
                </a:solidFill>
                <a:latin typeface="Aptos"/>
              </a:defRPr>
            </a:pPr>
          </a:p>
          <a:p>
            <a:pPr>
              <a:defRPr sz="2300" b="0">
                <a:solidFill>
                  <a:srgbClr val="14231C"/>
                </a:solidFill>
                <a:latin typeface="Aptos"/>
              </a:defRPr>
            </a:pPr>
            <a:r>
              <a:t>Open a budget update.</a:t>
            </a:r>
          </a:p>
          <a:p>
            <a:pPr>
              <a:defRPr sz="2300" b="0">
                <a:solidFill>
                  <a:srgbClr val="14231C"/>
                </a:solidFill>
                <a:latin typeface="Aptos"/>
              </a:defRPr>
            </a:pPr>
            <a:r>
              <a:t>Penny uses the family's saved plan.</a:t>
            </a:r>
          </a:p>
        </p:txBody>
      </p:sp>
      <p:pic>
        <p:nvPicPr>
          <p:cNvPr id="5" name="Picture 4" descr="penny-live.png"/>
          <p:cNvPicPr>
            <a:picLocks noChangeAspect="1"/>
          </p:cNvPicPr>
          <p:nvPr/>
        </p:nvPicPr>
        <p:blipFill>
          <a:blip r:embed="rId2"/>
          <a:stretch>
            <a:fillRect/>
          </a:stretch>
        </p:blipFill>
        <p:spPr>
          <a:xfrm>
            <a:off x="8321040" y="1005840"/>
            <a:ext cx="2765146" cy="4937760"/>
          </a:xfrm>
          <a:prstGeom prst="rect">
            <a:avLst/>
          </a:prstGeom>
        </p:spPr>
      </p:pic>
      <p:sp>
        <p:nvSpPr>
          <p:cNvPr id="6" name="TextBox 5"/>
          <p:cNvSpPr txBox="1"/>
          <p:nvPr/>
        </p:nvSpPr>
        <p:spPr>
          <a:xfrm>
            <a:off x="594360" y="6199632"/>
            <a:ext cx="10698480" cy="457200"/>
          </a:xfrm>
          <a:prstGeom prst="rect">
            <a:avLst/>
          </a:prstGeom>
          <a:noFill/>
        </p:spPr>
        <p:txBody>
          <a:bodyPr wrap="square">
            <a:spAutoFit/>
          </a:bodyPr>
          <a:lstStyle/>
          <a:p>
            <a:pPr>
              <a:defRPr sz="1200" b="0">
                <a:solidFill>
                  <a:srgbClr val="6B746E"/>
                </a:solidFill>
                <a:latin typeface="Aptos"/>
              </a:defRPr>
            </a:pPr>
            <a:r>
              <a:t>Synthetic data. Connections and events are simulated. No real money moves.</a:t>
            </a:r>
          </a:p>
        </p:txBody>
      </p:sp>
      <p:sp>
        <p:nvSpPr>
          <p:cNvPr id="7" name="TextBox 6"/>
          <p:cNvSpPr txBox="1"/>
          <p:nvPr/>
        </p:nvSpPr>
        <p:spPr>
          <a:xfrm>
            <a:off x="11064240" y="6199632"/>
            <a:ext cx="594360" cy="365760"/>
          </a:xfrm>
          <a:prstGeom prst="rect">
            <a:avLst/>
          </a:prstGeom>
          <a:noFill/>
        </p:spPr>
        <p:txBody>
          <a:bodyPr wrap="square">
            <a:spAutoFit/>
          </a:bodyPr>
          <a:lstStyle/>
          <a:p>
            <a:pPr>
              <a:defRPr sz="1200" b="0">
                <a:solidFill>
                  <a:srgbClr val="6B746E"/>
                </a:solidFill>
                <a:latin typeface="Aptos"/>
              </a:defRPr>
            </a:pPr>
            <a:r>
              <a:t>4/6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2EE"/>
        </a:solidFill>
        <a:effectLst/>
      </p:bgPr>
    </p:bg>
    <p:spTree>
      <p:nvGrpSpPr>
        <p:cNvPr id="1" name=""/>
        <p:cNvGrpSpPr/>
        <p:nvPr/>
      </p:nvGrpSpPr>
      <p:grpSpPr/>
      <p:sp>
        <p:nvSpPr>
          <p:cNvPr id="2" name="TextBox 1"/>
          <p:cNvSpPr txBox="1"/>
          <p:nvPr/>
        </p:nvSpPr>
        <p:spPr>
          <a:xfrm>
            <a:off x="594360" y="365760"/>
            <a:ext cx="10972800" cy="365760"/>
          </a:xfrm>
          <a:prstGeom prst="rect">
            <a:avLst/>
          </a:prstGeom>
          <a:noFill/>
        </p:spPr>
        <p:txBody>
          <a:bodyPr wrap="square">
            <a:spAutoFit/>
          </a:bodyPr>
          <a:lstStyle/>
          <a:p>
            <a:pPr>
              <a:defRPr sz="1300" b="1">
                <a:solidFill>
                  <a:srgbClr val="1F4A39"/>
                </a:solidFill>
                <a:latin typeface="Aptos"/>
              </a:defRPr>
            </a:pPr>
            <a:r>
              <a:t>PENNY / THE CHANGE WE WANT</a:t>
            </a:r>
          </a:p>
        </p:txBody>
      </p:sp>
      <p:sp>
        <p:nvSpPr>
          <p:cNvPr id="3" name="TextBox 2"/>
          <p:cNvSpPr txBox="1"/>
          <p:nvPr/>
        </p:nvSpPr>
        <p:spPr>
          <a:xfrm>
            <a:off x="594360" y="1005840"/>
            <a:ext cx="7315200" cy="2011680"/>
          </a:xfrm>
          <a:prstGeom prst="rect">
            <a:avLst/>
          </a:prstGeom>
          <a:noFill/>
        </p:spPr>
        <p:txBody>
          <a:bodyPr wrap="square">
            <a:spAutoFit/>
          </a:bodyPr>
          <a:lstStyle/>
          <a:p>
            <a:pPr>
              <a:defRPr sz="6000" b="1">
                <a:solidFill>
                  <a:srgbClr val="14231C"/>
                </a:solidFill>
                <a:latin typeface="Aptos"/>
              </a:defRPr>
            </a:pPr>
            <a:r>
              <a:t>Less stress.</a:t>
            </a:r>
          </a:p>
          <a:p>
            <a:pPr>
              <a:defRPr sz="6000" b="1">
                <a:solidFill>
                  <a:srgbClr val="14231C"/>
                </a:solidFill>
                <a:latin typeface="Aptos"/>
              </a:defRPr>
            </a:pPr>
            <a:r>
              <a:t>More control.</a:t>
            </a:r>
          </a:p>
        </p:txBody>
      </p:sp>
      <p:sp>
        <p:nvSpPr>
          <p:cNvPr id="4" name="TextBox 3"/>
          <p:cNvSpPr txBox="1"/>
          <p:nvPr/>
        </p:nvSpPr>
        <p:spPr>
          <a:xfrm>
            <a:off x="594360" y="3291840"/>
            <a:ext cx="7315200" cy="2194560"/>
          </a:xfrm>
          <a:prstGeom prst="rect">
            <a:avLst/>
          </a:prstGeom>
          <a:noFill/>
        </p:spPr>
        <p:txBody>
          <a:bodyPr wrap="square">
            <a:spAutoFit/>
          </a:bodyPr>
          <a:lstStyle/>
          <a:p>
            <a:pPr>
              <a:defRPr sz="2700" b="0">
                <a:solidFill>
                  <a:srgbClr val="14231C"/>
                </a:solidFill>
                <a:latin typeface="Aptos"/>
              </a:defRPr>
            </a:pPr>
            <a:r>
              <a:t>Understand what's left.</a:t>
            </a:r>
          </a:p>
          <a:p>
            <a:pPr>
              <a:defRPr sz="2700" b="0">
                <a:solidFill>
                  <a:srgbClr val="14231C"/>
                </a:solidFill>
                <a:latin typeface="Aptos"/>
              </a:defRPr>
            </a:pPr>
            <a:r>
              <a:t>Know what the family can spend and why.</a:t>
            </a:r>
          </a:p>
          <a:p>
            <a:pPr>
              <a:defRPr sz="2700" b="0">
                <a:solidFill>
                  <a:srgbClr val="14231C"/>
                </a:solidFill>
                <a:latin typeface="Aptos"/>
              </a:defRPr>
            </a:pPr>
          </a:p>
          <a:p>
            <a:pPr>
              <a:defRPr sz="2700" b="0">
                <a:solidFill>
                  <a:srgbClr val="14231C"/>
                </a:solidFill>
                <a:latin typeface="Aptos"/>
              </a:defRPr>
            </a:pPr>
            <a:r>
              <a:t>Make progress together.</a:t>
            </a:r>
          </a:p>
          <a:p>
            <a:pPr>
              <a:defRPr sz="2700" b="0">
                <a:solidFill>
                  <a:srgbClr val="14231C"/>
                </a:solidFill>
                <a:latin typeface="Aptos"/>
              </a:defRPr>
            </a:pPr>
            <a:r>
              <a:t>Choose practical changes toward a trip, home or buffer.</a:t>
            </a:r>
          </a:p>
        </p:txBody>
      </p:sp>
      <p:sp>
        <p:nvSpPr>
          <p:cNvPr id="5" name="TextBox 4"/>
          <p:cNvSpPr txBox="1"/>
          <p:nvPr/>
        </p:nvSpPr>
        <p:spPr>
          <a:xfrm>
            <a:off x="594360" y="6199632"/>
            <a:ext cx="10698480" cy="457200"/>
          </a:xfrm>
          <a:prstGeom prst="rect">
            <a:avLst/>
          </a:prstGeom>
          <a:noFill/>
        </p:spPr>
        <p:txBody>
          <a:bodyPr wrap="square">
            <a:spAutoFit/>
          </a:bodyPr>
          <a:lstStyle/>
          <a:p>
            <a:pPr>
              <a:defRPr sz="1200" b="0">
                <a:solidFill>
                  <a:srgbClr val="6B746E"/>
                </a:solidFill>
                <a:latin typeface="Aptos"/>
              </a:defRPr>
            </a:pPr>
            <a:r>
              <a:t>Intended outcomes. Conversation, saved plans and budget cards demonstrated; family impact untested.</a:t>
            </a:r>
          </a:p>
        </p:txBody>
      </p:sp>
      <p:sp>
        <p:nvSpPr>
          <p:cNvPr id="6" name="TextBox 5"/>
          <p:cNvSpPr txBox="1"/>
          <p:nvPr/>
        </p:nvSpPr>
        <p:spPr>
          <a:xfrm>
            <a:off x="11064240" y="6199632"/>
            <a:ext cx="594360" cy="365760"/>
          </a:xfrm>
          <a:prstGeom prst="rect">
            <a:avLst/>
          </a:prstGeom>
          <a:noFill/>
        </p:spPr>
        <p:txBody>
          <a:bodyPr wrap="square">
            <a:spAutoFit/>
          </a:bodyPr>
          <a:lstStyle/>
          <a:p>
            <a:pPr>
              <a:defRPr sz="1200" b="0">
                <a:solidFill>
                  <a:srgbClr val="6B746E"/>
                </a:solidFill>
                <a:latin typeface="Aptos"/>
              </a:defRPr>
            </a:pPr>
            <a:r>
              <a:t>5/6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F4A39"/>
        </a:solidFill>
        <a:effectLst/>
      </p:bgPr>
    </p:bg>
    <p:spTree>
      <p:nvGrpSpPr>
        <p:cNvPr id="1" name=""/>
        <p:cNvGrpSpPr/>
        <p:nvPr/>
      </p:nvGrpSpPr>
      <p:grpSpPr/>
      <p:sp>
        <p:nvSpPr>
          <p:cNvPr id="2" name="TextBox 1"/>
          <p:cNvSpPr txBox="1"/>
          <p:nvPr/>
        </p:nvSpPr>
        <p:spPr>
          <a:xfrm>
            <a:off x="594360" y="365760"/>
            <a:ext cx="10972800" cy="365760"/>
          </a:xfrm>
          <a:prstGeom prst="rect">
            <a:avLst/>
          </a:prstGeom>
          <a:noFill/>
        </p:spPr>
        <p:txBody>
          <a:bodyPr wrap="square">
            <a:spAutoFit/>
          </a:bodyPr>
          <a:lstStyle/>
          <a:p>
            <a:pPr>
              <a:defRPr sz="1300" b="1">
                <a:solidFill>
                  <a:srgbClr val="A8D5AF"/>
                </a:solidFill>
                <a:latin typeface="Aptos"/>
              </a:defRPr>
            </a:pPr>
            <a:r>
              <a:t>PENNY / 30-DAY IMPACT PLAN · OWNER: JULIA</a:t>
            </a:r>
          </a:p>
        </p:txBody>
      </p:sp>
      <p:sp>
        <p:nvSpPr>
          <p:cNvPr id="3" name="TextBox 2"/>
          <p:cNvSpPr txBox="1"/>
          <p:nvPr/>
        </p:nvSpPr>
        <p:spPr>
          <a:xfrm>
            <a:off x="594360" y="1051560"/>
            <a:ext cx="5486400" cy="1463040"/>
          </a:xfrm>
          <a:prstGeom prst="rect">
            <a:avLst/>
          </a:prstGeom>
          <a:noFill/>
        </p:spPr>
        <p:txBody>
          <a:bodyPr wrap="square">
            <a:spAutoFit/>
          </a:bodyPr>
          <a:lstStyle/>
          <a:p>
            <a:pPr>
              <a:defRPr sz="4800" b="1">
                <a:solidFill>
                  <a:srgbClr val="F2F2EE"/>
                </a:solidFill>
                <a:latin typeface="Aptos"/>
              </a:defRPr>
            </a:pPr>
            <a:r>
              <a:t>Test with</a:t>
            </a:r>
          </a:p>
          <a:p>
            <a:pPr>
              <a:defRPr sz="4800" b="1">
                <a:solidFill>
                  <a:srgbClr val="F2F2EE"/>
                </a:solidFill>
                <a:latin typeface="Aptos"/>
              </a:defRPr>
            </a:pPr>
            <a:r>
              <a:t>real families.</a:t>
            </a:r>
          </a:p>
        </p:txBody>
      </p:sp>
      <p:sp>
        <p:nvSpPr>
          <p:cNvPr id="4" name="TextBox 3"/>
          <p:cNvSpPr txBox="1"/>
          <p:nvPr/>
        </p:nvSpPr>
        <p:spPr>
          <a:xfrm>
            <a:off x="594360" y="2834640"/>
            <a:ext cx="5486400" cy="914400"/>
          </a:xfrm>
          <a:prstGeom prst="rect">
            <a:avLst/>
          </a:prstGeom>
          <a:noFill/>
        </p:spPr>
        <p:txBody>
          <a:bodyPr wrap="square">
            <a:spAutoFit/>
          </a:bodyPr>
          <a:lstStyle/>
          <a:p>
            <a:pPr>
              <a:defRPr sz="5600" b="1">
                <a:solidFill>
                  <a:srgbClr val="F2C24B"/>
                </a:solidFill>
                <a:latin typeface="Aptos"/>
              </a:defRPr>
            </a:pPr>
            <a:r>
              <a:t>5 families</a:t>
            </a:r>
          </a:p>
        </p:txBody>
      </p:sp>
      <p:sp>
        <p:nvSpPr>
          <p:cNvPr id="5" name="TextBox 4"/>
          <p:cNvSpPr txBox="1"/>
          <p:nvPr/>
        </p:nvSpPr>
        <p:spPr>
          <a:xfrm>
            <a:off x="594360" y="4114800"/>
            <a:ext cx="5212080" cy="1280160"/>
          </a:xfrm>
          <a:prstGeom prst="rect">
            <a:avLst/>
          </a:prstGeom>
          <a:noFill/>
        </p:spPr>
        <p:txBody>
          <a:bodyPr wrap="square">
            <a:spAutoFit/>
          </a:bodyPr>
          <a:lstStyle/>
          <a:p>
            <a:pPr>
              <a:defRPr sz="2400" b="0">
                <a:solidFill>
                  <a:srgbClr val="F2F2EE"/>
                </a:solidFill>
                <a:latin typeface="Aptos"/>
              </a:defRPr>
            </a:pPr>
            <a:r>
              <a:t>Target: at least 3 would use Penny regularly, with evidence of what helps.</a:t>
            </a:r>
          </a:p>
        </p:txBody>
      </p:sp>
      <p:sp>
        <p:nvSpPr>
          <p:cNvPr id="6" name="TextBox 5"/>
          <p:cNvSpPr txBox="1"/>
          <p:nvPr/>
        </p:nvSpPr>
        <p:spPr>
          <a:xfrm>
            <a:off x="6492240" y="1371600"/>
            <a:ext cx="5029200" cy="640080"/>
          </a:xfrm>
          <a:prstGeom prst="rect">
            <a:avLst/>
          </a:prstGeom>
          <a:noFill/>
        </p:spPr>
        <p:txBody>
          <a:bodyPr wrap="square">
            <a:spAutoFit/>
          </a:bodyPr>
          <a:lstStyle/>
          <a:p>
            <a:pPr>
              <a:defRPr sz="2400" b="1">
                <a:solidFill>
                  <a:srgbClr val="F2C24B"/>
                </a:solidFill>
                <a:latin typeface="Aptos"/>
              </a:defRPr>
            </a:pPr>
            <a:r>
              <a:t>Weeks 1–2 · First real-world test</a:t>
            </a:r>
          </a:p>
        </p:txBody>
      </p:sp>
      <p:sp>
        <p:nvSpPr>
          <p:cNvPr id="7" name="TextBox 6"/>
          <p:cNvSpPr txBox="1"/>
          <p:nvPr/>
        </p:nvSpPr>
        <p:spPr>
          <a:xfrm>
            <a:off x="6492240" y="2103120"/>
            <a:ext cx="5029200" cy="1371600"/>
          </a:xfrm>
          <a:prstGeom prst="rect">
            <a:avLst/>
          </a:prstGeom>
          <a:noFill/>
        </p:spPr>
        <p:txBody>
          <a:bodyPr wrap="square">
            <a:spAutoFit/>
          </a:bodyPr>
          <a:lstStyle/>
          <a:p>
            <a:pPr>
              <a:defRPr sz="2300" b="0">
                <a:solidFill>
                  <a:srgbClr val="F2F2EE"/>
                </a:solidFill>
                <a:latin typeface="Aptos"/>
              </a:defRPr>
            </a:pPr>
            <a:r>
              <a:t>Set a grocery budget, try simulated receipts and explore a goal. Check understanding and money stress.</a:t>
            </a:r>
          </a:p>
        </p:txBody>
      </p:sp>
      <p:sp>
        <p:nvSpPr>
          <p:cNvPr id="8" name="TextBox 7"/>
          <p:cNvSpPr txBox="1"/>
          <p:nvPr/>
        </p:nvSpPr>
        <p:spPr>
          <a:xfrm>
            <a:off x="6492240" y="3657600"/>
            <a:ext cx="5029200" cy="640080"/>
          </a:xfrm>
          <a:prstGeom prst="rect">
            <a:avLst/>
          </a:prstGeom>
          <a:noFill/>
        </p:spPr>
        <p:txBody>
          <a:bodyPr wrap="square">
            <a:spAutoFit/>
          </a:bodyPr>
          <a:lstStyle/>
          <a:p>
            <a:pPr>
              <a:defRPr sz="2400" b="1">
                <a:solidFill>
                  <a:srgbClr val="F2C24B"/>
                </a:solidFill>
                <a:latin typeface="Aptos"/>
              </a:defRPr>
            </a:pPr>
            <a:r>
              <a:t>Weeks 3–4 · Improve and decide</a:t>
            </a:r>
          </a:p>
        </p:txBody>
      </p:sp>
      <p:sp>
        <p:nvSpPr>
          <p:cNvPr id="9" name="TextBox 8"/>
          <p:cNvSpPr txBox="1"/>
          <p:nvPr/>
        </p:nvSpPr>
        <p:spPr>
          <a:xfrm>
            <a:off x="6492240" y="4389120"/>
            <a:ext cx="5029200" cy="1188720"/>
          </a:xfrm>
          <a:prstGeom prst="rect">
            <a:avLst/>
          </a:prstGeom>
          <a:noFill/>
        </p:spPr>
        <p:txBody>
          <a:bodyPr wrap="square">
            <a:spAutoFit/>
          </a:bodyPr>
          <a:lstStyle/>
          <a:p>
            <a:pPr>
              <a:defRPr sz="2300" b="0">
                <a:solidFill>
                  <a:srgbClr val="F2F2EE"/>
                </a:solidFill>
                <a:latin typeface="Aptos"/>
              </a:defRPr>
            </a:pPr>
            <a:r>
              <a:t>Fix confusing suggestions. Compare with the baseline and decide what to build next.</a:t>
            </a:r>
          </a:p>
        </p:txBody>
      </p:sp>
      <p:sp>
        <p:nvSpPr>
          <p:cNvPr id="10" name="TextBox 9"/>
          <p:cNvSpPr txBox="1"/>
          <p:nvPr/>
        </p:nvSpPr>
        <p:spPr>
          <a:xfrm>
            <a:off x="594360" y="6199632"/>
            <a:ext cx="10698480" cy="457200"/>
          </a:xfrm>
          <a:prstGeom prst="rect">
            <a:avLst/>
          </a:prstGeom>
          <a:noFill/>
        </p:spPr>
        <p:txBody>
          <a:bodyPr wrap="square">
            <a:spAutoFit/>
          </a:bodyPr>
          <a:lstStyle/>
          <a:p>
            <a:pPr>
              <a:defRPr sz="1200" b="0">
                <a:solidFill>
                  <a:srgbClr val="A8D5AF"/>
                </a:solidFill>
                <a:latin typeface="Aptos"/>
              </a:defRPr>
            </a:pPr>
            <a:r>
              <a:t>Help us find pilot families and a receipt-integration partner.</a:t>
            </a:r>
          </a:p>
        </p:txBody>
      </p:sp>
      <p:sp>
        <p:nvSpPr>
          <p:cNvPr id="11" name="TextBox 10"/>
          <p:cNvSpPr txBox="1"/>
          <p:nvPr/>
        </p:nvSpPr>
        <p:spPr>
          <a:xfrm>
            <a:off x="11064240" y="6199632"/>
            <a:ext cx="594360" cy="365760"/>
          </a:xfrm>
          <a:prstGeom prst="rect">
            <a:avLst/>
          </a:prstGeom>
          <a:noFill/>
        </p:spPr>
        <p:txBody>
          <a:bodyPr wrap="square">
            <a:spAutoFit/>
          </a:bodyPr>
          <a:lstStyle/>
          <a:p>
            <a:pPr>
              <a:defRPr sz="1200" b="0">
                <a:solidFill>
                  <a:srgbClr val="A8D5AF"/>
                </a:solidFill>
                <a:latin typeface="Aptos"/>
              </a:defRPr>
            </a:pPr>
            <a:r>
              <a:t>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Penny | Calmer money days</dc:title>
  <dc:subject>Two-minute pitch plus one-minute demo</dc:subject>
  <dc:creator/>
  <cp:keywords/>
  <dc:description>Provenance: Unvetted Synthetic</dc:description>
  <cp:lastModifiedBy>Steve Canny</cp:lastModifiedBy>
  <cp:revision>1</cp:revision>
  <dcterms:created xsi:type="dcterms:W3CDTF">2013-01-27T09:14:16Z</dcterms:created>
  <dcterms:modified xsi:type="dcterms:W3CDTF">2013-01-27T09:15:58Z</dcterms:modified>
  <cp:category/>
</cp:coreProperties>
</file>